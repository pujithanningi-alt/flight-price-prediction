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60" r:id="rId5"/>
    <p:sldId id="261" r:id="rId6"/>
    <p:sldId id="262" r:id="rId7"/>
    <p:sldId id="263" r:id="rId8"/>
    <p:sldId id="265" r:id="rId9"/>
    <p:sldId id="267" r:id="rId10"/>
    <p:sldId id="269"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hEn6ZiuxDmhe9Qb8Tc73jSgnCO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2C49FA-A36D-41C9-918B-D0F848907204}" v="9" dt="2025-12-30T05:13:07.509"/>
  </p1510:revLst>
</p1510:revInfo>
</file>

<file path=ppt/tableStyles.xml><?xml version="1.0" encoding="utf-8"?>
<a:tblStyleLst xmlns:a="http://schemas.openxmlformats.org/drawingml/2006/main" def="{FFF1AEB1-3345-4DEC-98D9-A505AC7A8FB6}">
  <a:tblStyle styleId="{FFF1AEB1-3345-4DEC-98D9-A505AC7A8FB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474" y="6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jith Kumar" userId="ff3b6b7f28f8a155" providerId="LiveId" clId="{B6C2BAE6-BABB-4D3D-A8BB-E661D5445D9F}"/>
    <pc:docChg chg="undo custSel modSld">
      <pc:chgData name="Pujith Kumar" userId="ff3b6b7f28f8a155" providerId="LiveId" clId="{B6C2BAE6-BABB-4D3D-A8BB-E661D5445D9F}" dt="2025-12-30T05:15:40.090" v="113" actId="20577"/>
      <pc:docMkLst>
        <pc:docMk/>
      </pc:docMkLst>
      <pc:sldChg chg="modSp mod">
        <pc:chgData name="Pujith Kumar" userId="ff3b6b7f28f8a155" providerId="LiveId" clId="{B6C2BAE6-BABB-4D3D-A8BB-E661D5445D9F}" dt="2025-12-30T05:15:40.090" v="113" actId="20577"/>
        <pc:sldMkLst>
          <pc:docMk/>
          <pc:sldMk cId="0" sldId="256"/>
        </pc:sldMkLst>
        <pc:spChg chg="mod">
          <ac:chgData name="Pujith Kumar" userId="ff3b6b7f28f8a155" providerId="LiveId" clId="{B6C2BAE6-BABB-4D3D-A8BB-E661D5445D9F}" dt="2025-12-30T05:15:40.090" v="113" actId="20577"/>
          <ac:spMkLst>
            <pc:docMk/>
            <pc:sldMk cId="0" sldId="256"/>
            <ac:spMk id="61" creationId="{00000000-0000-0000-0000-000000000000}"/>
          </ac:spMkLst>
        </pc:spChg>
      </pc:sldChg>
      <pc:sldChg chg="modSp mod">
        <pc:chgData name="Pujith Kumar" userId="ff3b6b7f28f8a155" providerId="LiveId" clId="{B6C2BAE6-BABB-4D3D-A8BB-E661D5445D9F}" dt="2025-12-30T04:56:31.584" v="4" actId="14100"/>
        <pc:sldMkLst>
          <pc:docMk/>
          <pc:sldMk cId="0" sldId="257"/>
        </pc:sldMkLst>
        <pc:spChg chg="mod">
          <ac:chgData name="Pujith Kumar" userId="ff3b6b7f28f8a155" providerId="LiveId" clId="{B6C2BAE6-BABB-4D3D-A8BB-E661D5445D9F}" dt="2025-12-30T04:56:31.584" v="4" actId="14100"/>
          <ac:spMkLst>
            <pc:docMk/>
            <pc:sldMk cId="0" sldId="257"/>
            <ac:spMk id="75" creationId="{00000000-0000-0000-0000-000000000000}"/>
          </ac:spMkLst>
        </pc:spChg>
      </pc:sldChg>
      <pc:sldChg chg="modSp mod">
        <pc:chgData name="Pujith Kumar" userId="ff3b6b7f28f8a155" providerId="LiveId" clId="{B6C2BAE6-BABB-4D3D-A8BB-E661D5445D9F}" dt="2025-12-30T04:57:22.618" v="10" actId="2710"/>
        <pc:sldMkLst>
          <pc:docMk/>
          <pc:sldMk cId="0" sldId="258"/>
        </pc:sldMkLst>
        <pc:spChg chg="mod">
          <ac:chgData name="Pujith Kumar" userId="ff3b6b7f28f8a155" providerId="LiveId" clId="{B6C2BAE6-BABB-4D3D-A8BB-E661D5445D9F}" dt="2025-12-30T04:57:22.618" v="10" actId="2710"/>
          <ac:spMkLst>
            <pc:docMk/>
            <pc:sldMk cId="0" sldId="258"/>
            <ac:spMk id="86" creationId="{00000000-0000-0000-0000-000000000000}"/>
          </ac:spMkLst>
        </pc:spChg>
      </pc:sldChg>
      <pc:sldChg chg="modSp mod">
        <pc:chgData name="Pujith Kumar" userId="ff3b6b7f28f8a155" providerId="LiveId" clId="{B6C2BAE6-BABB-4D3D-A8BB-E661D5445D9F}" dt="2025-12-30T04:58:27.312" v="19" actId="2711"/>
        <pc:sldMkLst>
          <pc:docMk/>
          <pc:sldMk cId="0" sldId="260"/>
        </pc:sldMkLst>
        <pc:spChg chg="mod">
          <ac:chgData name="Pujith Kumar" userId="ff3b6b7f28f8a155" providerId="LiveId" clId="{B6C2BAE6-BABB-4D3D-A8BB-E661D5445D9F}" dt="2025-12-30T04:58:27.312" v="19" actId="2711"/>
          <ac:spMkLst>
            <pc:docMk/>
            <pc:sldMk cId="0" sldId="260"/>
            <ac:spMk id="5" creationId="{ED3DDED0-F7C2-F073-919B-0258FE3402DE}"/>
          </ac:spMkLst>
        </pc:spChg>
      </pc:sldChg>
      <pc:sldChg chg="modSp mod">
        <pc:chgData name="Pujith Kumar" userId="ff3b6b7f28f8a155" providerId="LiveId" clId="{B6C2BAE6-BABB-4D3D-A8BB-E661D5445D9F}" dt="2025-12-30T04:59:55.268" v="25" actId="14100"/>
        <pc:sldMkLst>
          <pc:docMk/>
          <pc:sldMk cId="0" sldId="261"/>
        </pc:sldMkLst>
        <pc:spChg chg="mod">
          <ac:chgData name="Pujith Kumar" userId="ff3b6b7f28f8a155" providerId="LiveId" clId="{B6C2BAE6-BABB-4D3D-A8BB-E661D5445D9F}" dt="2025-12-30T04:59:55.268" v="25" actId="14100"/>
          <ac:spMkLst>
            <pc:docMk/>
            <pc:sldMk cId="0" sldId="261"/>
            <ac:spMk id="3" creationId="{697D9F0B-F5C1-D0A9-0F79-44C687F42777}"/>
          </ac:spMkLst>
        </pc:spChg>
      </pc:sldChg>
      <pc:sldChg chg="addSp delSp modSp mod">
        <pc:chgData name="Pujith Kumar" userId="ff3b6b7f28f8a155" providerId="LiveId" clId="{B6C2BAE6-BABB-4D3D-A8BB-E661D5445D9F}" dt="2025-12-30T05:14:06.933" v="58" actId="14100"/>
        <pc:sldMkLst>
          <pc:docMk/>
          <pc:sldMk cId="0" sldId="262"/>
        </pc:sldMkLst>
        <pc:picChg chg="add mod">
          <ac:chgData name="Pujith Kumar" userId="ff3b6b7f28f8a155" providerId="LiveId" clId="{B6C2BAE6-BABB-4D3D-A8BB-E661D5445D9F}" dt="2025-12-30T05:14:06.933" v="58" actId="14100"/>
          <ac:picMkLst>
            <pc:docMk/>
            <pc:sldMk cId="0" sldId="262"/>
            <ac:picMk id="3" creationId="{B57412EF-007E-F856-49AF-5FB112862C39}"/>
          </ac:picMkLst>
        </pc:picChg>
        <pc:picChg chg="del">
          <ac:chgData name="Pujith Kumar" userId="ff3b6b7f28f8a155" providerId="LiveId" clId="{B6C2BAE6-BABB-4D3D-A8BB-E661D5445D9F}" dt="2025-12-30T05:12:56.324" v="46" actId="478"/>
          <ac:picMkLst>
            <pc:docMk/>
            <pc:sldMk cId="0" sldId="262"/>
            <ac:picMk id="5" creationId="{E2C00BA8-8EF6-1F25-9D92-281DB171A460}"/>
          </ac:picMkLst>
        </pc:picChg>
      </pc:sldChg>
      <pc:sldChg chg="modSp mod">
        <pc:chgData name="Pujith Kumar" userId="ff3b6b7f28f8a155" providerId="LiveId" clId="{B6C2BAE6-BABB-4D3D-A8BB-E661D5445D9F}" dt="2025-12-30T05:01:26.355" v="34" actId="14100"/>
        <pc:sldMkLst>
          <pc:docMk/>
          <pc:sldMk cId="0" sldId="263"/>
        </pc:sldMkLst>
        <pc:spChg chg="mod">
          <ac:chgData name="Pujith Kumar" userId="ff3b6b7f28f8a155" providerId="LiveId" clId="{B6C2BAE6-BABB-4D3D-A8BB-E661D5445D9F}" dt="2025-12-30T05:01:26.355" v="34" actId="14100"/>
          <ac:spMkLst>
            <pc:docMk/>
            <pc:sldMk cId="0" sldId="263"/>
            <ac:spMk id="3" creationId="{1010E302-537B-C0EB-7563-B48758695593}"/>
          </ac:spMkLst>
        </pc:spChg>
      </pc:sldChg>
      <pc:sldChg chg="modSp mod">
        <pc:chgData name="Pujith Kumar" userId="ff3b6b7f28f8a155" providerId="LiveId" clId="{B6C2BAE6-BABB-4D3D-A8BB-E661D5445D9F}" dt="2025-12-30T05:02:13.312" v="37" actId="123"/>
        <pc:sldMkLst>
          <pc:docMk/>
          <pc:sldMk cId="0" sldId="265"/>
        </pc:sldMkLst>
        <pc:spChg chg="mod">
          <ac:chgData name="Pujith Kumar" userId="ff3b6b7f28f8a155" providerId="LiveId" clId="{B6C2BAE6-BABB-4D3D-A8BB-E661D5445D9F}" dt="2025-12-30T05:02:13.312" v="37" actId="123"/>
          <ac:spMkLst>
            <pc:docMk/>
            <pc:sldMk cId="0" sldId="265"/>
            <ac:spMk id="4" creationId="{3A47C2CF-76A1-830E-1E7A-49BC8AA68BCA}"/>
          </ac:spMkLst>
        </pc:spChg>
      </pc:sldChg>
      <pc:sldChg chg="modSp mod">
        <pc:chgData name="Pujith Kumar" userId="ff3b6b7f28f8a155" providerId="LiveId" clId="{B6C2BAE6-BABB-4D3D-A8BB-E661D5445D9F}" dt="2025-12-30T05:03:21.963" v="42" actId="1076"/>
        <pc:sldMkLst>
          <pc:docMk/>
          <pc:sldMk cId="0" sldId="267"/>
        </pc:sldMkLst>
        <pc:spChg chg="mod">
          <ac:chgData name="Pujith Kumar" userId="ff3b6b7f28f8a155" providerId="LiveId" clId="{B6C2BAE6-BABB-4D3D-A8BB-E661D5445D9F}" dt="2025-12-30T05:03:21.963" v="42" actId="1076"/>
          <ac:spMkLst>
            <pc:docMk/>
            <pc:sldMk cId="0" sldId="267"/>
            <ac:spMk id="5" creationId="{4B08C3B1-F921-FB94-AA74-DBB503BC3A42}"/>
          </ac:spMkLst>
        </pc:spChg>
      </pc:sldChg>
      <pc:sldChg chg="modSp mod">
        <pc:chgData name="Pujith Kumar" userId="ff3b6b7f28f8a155" providerId="LiveId" clId="{B6C2BAE6-BABB-4D3D-A8BB-E661D5445D9F}" dt="2025-12-30T05:03:50.602" v="45" actId="14100"/>
        <pc:sldMkLst>
          <pc:docMk/>
          <pc:sldMk cId="0" sldId="269"/>
        </pc:sldMkLst>
        <pc:spChg chg="mod">
          <ac:chgData name="Pujith Kumar" userId="ff3b6b7f28f8a155" providerId="LiveId" clId="{B6C2BAE6-BABB-4D3D-A8BB-E661D5445D9F}" dt="2025-12-30T05:03:50.602" v="45" actId="14100"/>
          <ac:spMkLst>
            <pc:docMk/>
            <pc:sldMk cId="0" sldId="269"/>
            <ac:spMk id="3" creationId="{DE8C3440-FF52-408C-D616-82C8CB2DB6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6858000" cy="9144000"/>
          </a:xfrm>
          <a:prstGeom prst="roundRect">
            <a:avLst>
              <a:gd name="adj" fmla="val 5"/>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 name="Google Shape;4;n"/>
          <p:cNvSpPr txBox="1"/>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 name="Google Shape;5;n"/>
          <p:cNvSpPr txBox="1">
            <a:spLocks noGrp="1"/>
          </p:cNvSpPr>
          <p:nvPr>
            <p:ph type="dt" idx="10"/>
          </p:nvPr>
        </p:nvSpPr>
        <p:spPr>
          <a:xfrm>
            <a:off x="3884612" y="0"/>
            <a:ext cx="2970212" cy="455612"/>
          </a:xfrm>
          <a:prstGeom prst="rect">
            <a:avLst/>
          </a:prstGeom>
          <a:noFill/>
          <a:ln>
            <a:noFill/>
          </a:ln>
        </p:spPr>
        <p:txBody>
          <a:bodyPr spcFirstLastPara="1" wrap="square" lIns="90000" tIns="46800" rIns="90000" bIns="46800" anchor="t" anchorCtr="0">
            <a:noAutofit/>
          </a:bodyPr>
          <a:lstStyle>
            <a:lvl1pPr marR="0" lvl="0" algn="l" rtl="0">
              <a:lnSpc>
                <a:spcPct val="100000"/>
              </a:lnSpc>
              <a:spcBef>
                <a:spcPts val="0"/>
              </a:spcBef>
              <a:spcAft>
                <a:spcPts val="0"/>
              </a:spcAft>
              <a:buSzPts val="1400"/>
              <a:buNone/>
              <a:defRPr sz="1800" b="0" i="0" u="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6" name="Google Shape;6;n"/>
          <p:cNvSpPr>
            <a:spLocks noGrp="1" noRot="1" noChangeAspect="1"/>
          </p:cNvSpPr>
          <p:nvPr>
            <p:ph type="sldImg" idx="2"/>
          </p:nvPr>
        </p:nvSpPr>
        <p:spPr>
          <a:xfrm>
            <a:off x="1143000" y="685800"/>
            <a:ext cx="4570412" cy="3427412"/>
          </a:xfrm>
          <a:custGeom>
            <a:avLst/>
            <a:gdLst/>
            <a:ahLst/>
            <a:cxnLst/>
            <a:rect l="l" t="t" r="r" b="b"/>
            <a:pathLst>
              <a:path w="120000" h="120000" extrusionOk="0">
                <a:moveTo>
                  <a:pt x="0" y="0"/>
                </a:moveTo>
                <a:lnTo>
                  <a:pt x="120000" y="0"/>
                </a:lnTo>
                <a:lnTo>
                  <a:pt x="120000" y="120000"/>
                </a:lnTo>
                <a:lnTo>
                  <a:pt x="0" y="120000"/>
                </a:lnTo>
                <a:close/>
              </a:path>
            </a:pathLst>
          </a:custGeom>
          <a:noFill/>
          <a:ln w="12600" cap="sq" cmpd="sng">
            <a:solidFill>
              <a:srgbClr val="000000"/>
            </a:solidFill>
            <a:prstDash val="solid"/>
            <a:miter lim="800000"/>
            <a:headEnd type="none" w="sm" len="sm"/>
            <a:tailEnd type="none" w="sm" len="sm"/>
          </a:ln>
        </p:spPr>
      </p:sp>
      <p:sp>
        <p:nvSpPr>
          <p:cNvPr id="7" name="Google Shape;7;n"/>
          <p:cNvSpPr txBox="1">
            <a:spLocks noGrp="1"/>
          </p:cNvSpPr>
          <p:nvPr>
            <p:ph type="body" idx="1"/>
          </p:nvPr>
        </p:nvSpPr>
        <p:spPr>
          <a:xfrm>
            <a:off x="685800" y="4343400"/>
            <a:ext cx="5484812" cy="4113212"/>
          </a:xfrm>
          <a:prstGeom prst="rect">
            <a:avLst/>
          </a:prstGeom>
          <a:noFill/>
          <a:ln>
            <a:noFill/>
          </a:ln>
        </p:spPr>
        <p:txBody>
          <a:bodyPr spcFirstLastPara="1" wrap="square" lIns="90000" tIns="46800" rIns="90000" bIns="468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8" name="Google Shape;8;n"/>
          <p:cNvSpPr txBox="1"/>
          <p:nvPr/>
        </p:nvSpPr>
        <p:spPr>
          <a:xfrm>
            <a:off x="0" y="8685212"/>
            <a:ext cx="2971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9" name="Google Shape;9;n"/>
          <p:cNvSpPr txBox="1">
            <a:spLocks noGrp="1"/>
          </p:cNvSpPr>
          <p:nvPr>
            <p:ph type="sldNum" idx="12"/>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a:t>
            </a:fld>
            <a:endParaRPr/>
          </a:p>
        </p:txBody>
      </p:sp>
      <p:sp>
        <p:nvSpPr>
          <p:cNvPr id="57" name="Google Shape;5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8" name="Google Shape;58;p1: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r>
              <a:rPr lang="en-US"/>
              <a:t>jjjj</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2</a:t>
            </a:fld>
            <a:endParaRPr/>
          </a:p>
        </p:txBody>
      </p:sp>
      <p:sp>
        <p:nvSpPr>
          <p:cNvPr id="65" name="Google Shape;6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6" name="Google Shape;66;p2: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r>
              <a:rPr lang="en-US" dirty="0"/>
              <a:t>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3</a:t>
            </a:fld>
            <a:endParaRPr/>
          </a:p>
        </p:txBody>
      </p:sp>
      <p:sp>
        <p:nvSpPr>
          <p:cNvPr id="78" name="Google Shape;7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9" name="Google Shape;79;p3: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4</a:t>
            </a:fld>
            <a:endParaRPr/>
          </a:p>
        </p:txBody>
      </p:sp>
      <p:sp>
        <p:nvSpPr>
          <p:cNvPr id="99" name="Google Shape;9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0" name="Google Shape;100;p5: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5</a:t>
            </a:fld>
            <a:endParaRPr/>
          </a:p>
        </p:txBody>
      </p:sp>
      <p:sp>
        <p:nvSpPr>
          <p:cNvPr id="109" name="Google Shape;10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0" name="Google Shape;110;p6: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f2e34be905_1_19:notes"/>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6</a:t>
            </a:fld>
            <a:endParaRPr/>
          </a:p>
        </p:txBody>
      </p:sp>
      <p:sp>
        <p:nvSpPr>
          <p:cNvPr id="119" name="Google Shape;119;g2f2e34be905_1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7</a:t>
            </a:fld>
            <a:endParaRPr/>
          </a:p>
        </p:txBody>
      </p:sp>
      <p:sp>
        <p:nvSpPr>
          <p:cNvPr id="129" name="Google Shape;12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0" name="Google Shape;130;p7: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8</a:t>
            </a:fld>
            <a:endParaRPr/>
          </a:p>
        </p:txBody>
      </p:sp>
      <p:sp>
        <p:nvSpPr>
          <p:cNvPr id="149" name="Google Shape;14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0" name="Google Shape;150;p8: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9</a:t>
            </a:fld>
            <a:endParaRPr/>
          </a:p>
        </p:txBody>
      </p:sp>
      <p:sp>
        <p:nvSpPr>
          <p:cNvPr id="169" name="Google Shape;16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0" name="Google Shape;170;p11: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3: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10</a:t>
            </a:fld>
            <a:endParaRPr/>
          </a:p>
        </p:txBody>
      </p:sp>
      <p:sp>
        <p:nvSpPr>
          <p:cNvPr id="190" name="Google Shape;19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91" name="Google Shape;191;p13: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2f21868b929_3_11"/>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6" name="Google Shape;16;g2f21868b929_3_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7" name="Google Shape;17;g2f21868b929_3_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g2f21868b929_3_15"/>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 name="Google Shape;20;g2f21868b929_3_1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g2f21868b929_3_1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g2f21868b929_3_18"/>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g2f21868b929_3_1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g2f21868b929_3_22"/>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g2f21868b929_3_22"/>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g2f21868b929_3_22"/>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g2f21868b929_3_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g2f21868b929_3_27"/>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 name="Google Shape;32;g2f21868b929_3_2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g2f21868b929_3_30"/>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5" name="Google Shape;35;g2f21868b929_3_30"/>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g2f21868b929_3_3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g2f21868b929_3_34"/>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9" name="Google Shape;39;g2f21868b929_3_3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g2f21868b929_3_37"/>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g2f21868b929_3_37"/>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g2f21868b929_3_37"/>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g2f21868b929_3_37"/>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5" name="Google Shape;45;g2f21868b929_3_3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g2f21868b929_3_43"/>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8" name="Google Shape;48;g2f21868b929_3_4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g2f21868b929_3_46"/>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g2f21868b929_3_46"/>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g2f21868b929_3_4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g2f21868b929_3_5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0"/>
        <p:cNvGrpSpPr/>
        <p:nvPr/>
      </p:nvGrpSpPr>
      <p:grpSpPr>
        <a:xfrm>
          <a:off x="0" y="0"/>
          <a:ext cx="0" cy="0"/>
          <a:chOff x="0" y="0"/>
          <a:chExt cx="0" cy="0"/>
        </a:xfrm>
      </p:grpSpPr>
      <p:sp>
        <p:nvSpPr>
          <p:cNvPr id="11" name="Google Shape;11;g2f21868b929_3_7"/>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2" name="Google Shape;12;g2f21868b929_3_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13" name="Google Shape;13;g2f21868b929_3_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sp>
        <p:nvSpPr>
          <p:cNvPr id="60" name="Google Shape;60;p1"/>
          <p:cNvSpPr txBox="1"/>
          <p:nvPr/>
        </p:nvSpPr>
        <p:spPr>
          <a:xfrm>
            <a:off x="0" y="6553200"/>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61" name="Google Shape;61;p1"/>
          <p:cNvSpPr/>
          <p:nvPr/>
        </p:nvSpPr>
        <p:spPr>
          <a:xfrm>
            <a:off x="412879" y="495172"/>
            <a:ext cx="8061223" cy="2332004"/>
          </a:xfrm>
          <a:prstGeom prst="roundRect">
            <a:avLst>
              <a:gd name="adj" fmla="val 16667"/>
            </a:avLst>
          </a:prstGeom>
          <a:solidFill>
            <a:srgbClr val="04064C"/>
          </a:solidFill>
          <a:ln>
            <a:noFill/>
          </a:ln>
        </p:spPr>
        <p:txBody>
          <a:bodyPr spcFirstLastPara="1" wrap="square" lIns="91425" tIns="45700" rIns="91425" bIns="45700" anchor="ctr" anchorCtr="0">
            <a:noAutofit/>
          </a:bodyPr>
          <a:lstStyle/>
          <a:p>
            <a:pPr algn="ctr">
              <a:lnSpc>
                <a:spcPct val="115000"/>
              </a:lnSpc>
              <a:spcBef>
                <a:spcPts val="500"/>
              </a:spcBef>
              <a:spcAft>
                <a:spcPts val="500"/>
              </a:spcAft>
              <a:buClr>
                <a:schemeClr val="dk1"/>
              </a:buClr>
              <a:buSzPts val="1100"/>
            </a:pPr>
            <a:r>
              <a:rPr lang="en-US" sz="3600" dirty="0">
                <a:solidFill>
                  <a:schemeClr val="bg1"/>
                </a:solidFill>
              </a:rPr>
              <a:t>PORTUGESE BANK </a:t>
            </a:r>
            <a:endParaRPr lang="en-US" sz="2600" dirty="0">
              <a:solidFill>
                <a:schemeClr val="bg1"/>
              </a:solidFill>
              <a:effectLst/>
              <a:latin typeface="+mj-lt"/>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BFCCB5BA-6539-8C45-560A-2DF54A8EE179}"/>
              </a:ext>
            </a:extLst>
          </p:cNvPr>
          <p:cNvSpPr txBox="1"/>
          <p:nvPr/>
        </p:nvSpPr>
        <p:spPr>
          <a:xfrm>
            <a:off x="6351639" y="3900155"/>
            <a:ext cx="4709650" cy="584775"/>
          </a:xfrm>
          <a:prstGeom prst="rect">
            <a:avLst/>
          </a:prstGeom>
          <a:noFill/>
        </p:spPr>
        <p:txBody>
          <a:bodyPr wrap="square">
            <a:spAutoFit/>
          </a:bodyPr>
          <a:lstStyle/>
          <a:p>
            <a:pPr marL="0" marR="0">
              <a:spcBef>
                <a:spcPts val="0"/>
              </a:spcBef>
              <a:spcAft>
                <a:spcPts val="0"/>
              </a:spcAft>
            </a:pPr>
            <a:br>
              <a:rPr lang="en-IN" sz="1400" kern="100" dirty="0">
                <a:effectLst/>
                <a:latin typeface="Times New Roman" panose="02020603050405020304" pitchFamily="18" charset="0"/>
                <a:ea typeface="宋体" panose="02010600030101010101" pitchFamily="2" charset="-122"/>
              </a:rPr>
            </a:br>
            <a:endParaRPr lang="en-IN" sz="1800" kern="100" dirty="0">
              <a:effectLst/>
              <a:latin typeface="Times New Roman" panose="02020603050405020304" pitchFamily="18" charset="0"/>
              <a:ea typeface="宋体" panose="02010600030101010101" pitchFamily="2" charset="-122"/>
            </a:endParaRPr>
          </a:p>
        </p:txBody>
      </p:sp>
      <p:sp>
        <p:nvSpPr>
          <p:cNvPr id="11" name="TextBox 10">
            <a:extLst>
              <a:ext uri="{FF2B5EF4-FFF2-40B4-BE49-F238E27FC236}">
                <a16:creationId xmlns:a16="http://schemas.microsoft.com/office/drawing/2014/main" id="{08BB9FEB-905F-60EC-6BCE-BF26462A99D8}"/>
              </a:ext>
            </a:extLst>
          </p:cNvPr>
          <p:cNvSpPr txBox="1"/>
          <p:nvPr/>
        </p:nvSpPr>
        <p:spPr>
          <a:xfrm>
            <a:off x="5990255" y="3645543"/>
            <a:ext cx="2362550" cy="2089290"/>
          </a:xfrm>
          <a:prstGeom prst="rect">
            <a:avLst/>
          </a:prstGeom>
          <a:noFill/>
        </p:spPr>
        <p:txBody>
          <a:bodyPr wrap="square">
            <a:spAutoFit/>
          </a:bodyPr>
          <a:lstStyle/>
          <a:p>
            <a:pPr marL="0" marR="0" algn="ctr">
              <a:spcBef>
                <a:spcPts val="0"/>
              </a:spcBef>
              <a:spcAft>
                <a:spcPts val="0"/>
              </a:spcAft>
            </a:pPr>
            <a:r>
              <a:rPr lang="en-IN" sz="2000" b="1" kern="100" dirty="0">
                <a:effectLst/>
                <a:latin typeface="Times New Roman" panose="02020603050405020304" pitchFamily="18" charset="0"/>
                <a:ea typeface="宋体" panose="02010600030101010101" pitchFamily="2" charset="-122"/>
              </a:rPr>
              <a:t>PRESENTED BY:</a:t>
            </a:r>
            <a:br>
              <a:rPr lang="en-IN" sz="2000" b="1" kern="100" dirty="0">
                <a:effectLst/>
                <a:latin typeface="Times New Roman" panose="02020603050405020304" pitchFamily="18" charset="0"/>
                <a:ea typeface="宋体" panose="02010600030101010101" pitchFamily="2" charset="-122"/>
              </a:rPr>
            </a:br>
            <a:r>
              <a:rPr lang="en-IN" sz="1400" b="1" kern="100" dirty="0">
                <a:effectLst/>
                <a:latin typeface="Times New Roman" panose="02020603050405020304" pitchFamily="18" charset="0"/>
                <a:ea typeface="宋体" panose="02010600030101010101" pitchFamily="2" charset="-122"/>
              </a:rPr>
              <a:t>  </a:t>
            </a:r>
          </a:p>
          <a:p>
            <a:pPr marL="0" marR="0" algn="ctr">
              <a:spcBef>
                <a:spcPts val="0"/>
              </a:spcBef>
              <a:spcAft>
                <a:spcPts val="0"/>
              </a:spcAft>
            </a:pPr>
            <a:r>
              <a:rPr lang="en-IN" sz="1800" kern="100" dirty="0">
                <a:effectLst/>
                <a:latin typeface="Times New Roman" panose="02020603050405020304" pitchFamily="18" charset="0"/>
                <a:ea typeface="宋体" panose="02010600030101010101" pitchFamily="2" charset="-122"/>
              </a:rPr>
              <a:t>PUJITH KUMAR</a:t>
            </a:r>
          </a:p>
          <a:p>
            <a:pPr marL="0" marR="0" algn="ctr">
              <a:lnSpc>
                <a:spcPct val="150000"/>
              </a:lnSpc>
              <a:spcBef>
                <a:spcPts val="0"/>
              </a:spcBef>
              <a:spcAft>
                <a:spcPts val="0"/>
              </a:spcAft>
            </a:pPr>
            <a:r>
              <a:rPr lang="en-IN" sz="1800" kern="100" dirty="0">
                <a:latin typeface="Times New Roman" panose="02020603050405020304" pitchFamily="18" charset="0"/>
                <a:ea typeface="宋体" panose="02010600030101010101" pitchFamily="2" charset="-122"/>
              </a:rPr>
              <a:t>ARUN KUMAR</a:t>
            </a:r>
            <a:endParaRPr lang="en-IN" sz="1800" kern="100" dirty="0">
              <a:effectLst/>
              <a:latin typeface="Times New Roman" panose="02020603050405020304" pitchFamily="18" charset="0"/>
              <a:ea typeface="宋体" panose="02010600030101010101" pitchFamily="2" charset="-122"/>
            </a:endParaRPr>
          </a:p>
          <a:p>
            <a:pPr marL="0" marR="0" algn="ctr">
              <a:lnSpc>
                <a:spcPct val="150000"/>
              </a:lnSpc>
              <a:spcBef>
                <a:spcPts val="0"/>
              </a:spcBef>
              <a:spcAft>
                <a:spcPts val="0"/>
              </a:spcAft>
            </a:pPr>
            <a:r>
              <a:rPr lang="en-IN" sz="1800" kern="100" dirty="0">
                <a:effectLst/>
                <a:latin typeface="Times New Roman" panose="02020603050405020304" pitchFamily="18" charset="0"/>
                <a:ea typeface="宋体" panose="02010600030101010101" pitchFamily="2" charset="-122"/>
              </a:rPr>
              <a:t>CHANDHU</a:t>
            </a:r>
          </a:p>
          <a:p>
            <a:pPr marL="0" marR="0" algn="ctr">
              <a:lnSpc>
                <a:spcPct val="150000"/>
              </a:lnSpc>
              <a:spcBef>
                <a:spcPts val="0"/>
              </a:spcBef>
              <a:spcAft>
                <a:spcPts val="0"/>
              </a:spcAft>
            </a:pPr>
            <a:r>
              <a:rPr lang="en-IN" sz="1800" kern="100" dirty="0">
                <a:effectLst/>
                <a:latin typeface="Times New Roman" panose="02020603050405020304" pitchFamily="18" charset="0"/>
                <a:ea typeface="宋体" panose="02010600030101010101" pitchFamily="2" charset="-122"/>
              </a:rPr>
              <a:t>JENISHA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2"/>
          <p:cNvSpPr txBox="1"/>
          <p:nvPr/>
        </p:nvSpPr>
        <p:spPr>
          <a:xfrm>
            <a:off x="4795800" y="0"/>
            <a:ext cx="4348200" cy="11418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1" i="0" u="none" dirty="0">
                <a:solidFill>
                  <a:schemeClr val="tx1"/>
                </a:solidFill>
                <a:latin typeface="Times New Roman"/>
                <a:ea typeface="Times New Roman"/>
                <a:cs typeface="Times New Roman"/>
                <a:sym typeface="Times New Roman"/>
              </a:rPr>
              <a:t>Abstract</a:t>
            </a:r>
            <a:r>
              <a:rPr lang="en-US" sz="1600" b="0" i="0" u="none" dirty="0">
                <a:solidFill>
                  <a:srgbClr val="7F7F7F"/>
                </a:solidFill>
                <a:latin typeface="Times New Roman"/>
                <a:ea typeface="Times New Roman"/>
                <a:cs typeface="Times New Roman"/>
                <a:sym typeface="Times New Roman"/>
              </a:rPr>
              <a:t> </a:t>
            </a:r>
            <a:r>
              <a:rPr lang="en-US" sz="1600" b="1" i="0" u="none" dirty="0">
                <a:solidFill>
                  <a:srgbClr val="04064C"/>
                </a:solidFill>
                <a:latin typeface="Times New Roman"/>
                <a:ea typeface="Times New Roman"/>
                <a:cs typeface="Times New Roman"/>
                <a:sym typeface="Times New Roman"/>
              </a:rPr>
              <a:t> </a:t>
            </a:r>
            <a:r>
              <a:rPr lang="en-US" sz="1600" b="0" i="0" u="none" dirty="0">
                <a:solidFill>
                  <a:srgbClr val="04064C"/>
                </a:solidFill>
                <a:latin typeface="Times New Roman"/>
                <a:ea typeface="Times New Roman"/>
                <a:cs typeface="Times New Roman"/>
                <a:sym typeface="Times New Roman"/>
              </a:rPr>
              <a:t>,</a:t>
            </a:r>
            <a:r>
              <a:rPr lang="en-US" sz="1600" b="0" i="0" u="none" dirty="0">
                <a:solidFill>
                  <a:srgbClr val="7F7F7F"/>
                </a:solidFill>
                <a:latin typeface="Times New Roman"/>
                <a:ea typeface="Times New Roman"/>
                <a:cs typeface="Times New Roman"/>
                <a:sym typeface="Times New Roman"/>
              </a:rPr>
              <a:t> Introduction, Problem identification</a:t>
            </a:r>
            <a:endParaRPr lang="en-US" sz="1600" dirty="0"/>
          </a:p>
          <a:p>
            <a:pPr marL="0" marR="0" lvl="0" indent="0" algn="l" rtl="0">
              <a:lnSpc>
                <a:spcPct val="100000"/>
              </a:lnSpc>
              <a:spcBef>
                <a:spcPts val="0"/>
              </a:spcBef>
              <a:spcAft>
                <a:spcPts val="0"/>
              </a:spcAft>
              <a:buClr>
                <a:srgbClr val="7F7F7F"/>
              </a:buClr>
              <a:buSzPts val="1600"/>
              <a:buFont typeface="Times New Roman"/>
              <a:buNone/>
            </a:pPr>
            <a:r>
              <a:rPr lang="en-US" sz="1600" i="0" u="none" dirty="0">
                <a:solidFill>
                  <a:schemeClr val="tx2">
                    <a:lumMod val="50000"/>
                  </a:schemeClr>
                </a:solidFill>
                <a:latin typeface="Times New Roman"/>
                <a:ea typeface="Times New Roman"/>
                <a:cs typeface="Times New Roman"/>
                <a:sym typeface="Times New Roman"/>
              </a:rPr>
              <a:t>Objective</a:t>
            </a:r>
            <a:r>
              <a:rPr lang="en-US" sz="1600" b="0" i="0" u="none" dirty="0">
                <a:solidFill>
                  <a:srgbClr val="7F7F7F"/>
                </a:solidFill>
                <a:latin typeface="Times New Roman"/>
                <a:ea typeface="Times New Roman"/>
                <a:cs typeface="Times New Roman"/>
                <a:sym typeface="Times New Roman"/>
              </a:rPr>
              <a:t> ,</a:t>
            </a:r>
            <a:r>
              <a:rPr lang="en-US" sz="1600" i="0" u="none" dirty="0">
                <a:solidFill>
                  <a:schemeClr val="tx2">
                    <a:lumMod val="50000"/>
                  </a:schemeClr>
                </a:solidFill>
                <a:latin typeface="Times New Roman"/>
                <a:ea typeface="Times New Roman"/>
                <a:cs typeface="Times New Roman"/>
                <a:sym typeface="Times New Roman"/>
              </a:rPr>
              <a:t>System Architecture</a:t>
            </a:r>
            <a:endParaRPr lang="en-US" sz="1600" dirty="0">
              <a:solidFill>
                <a:schemeClr val="tx2">
                  <a:lumMod val="50000"/>
                </a:schemeClr>
              </a:solidFill>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Related Work ,Proposed Methodology</a:t>
            </a:r>
            <a:endParaRPr lang="en-US" sz="1600" dirty="0"/>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Results and Discussion ,Conclusions</a:t>
            </a:r>
            <a:endParaRPr lang="en-US" sz="1600" b="1" i="0" u="none" dirty="0">
              <a:solidFill>
                <a:srgbClr val="04064C"/>
              </a:solidFill>
              <a:latin typeface="Times New Roman"/>
              <a:ea typeface="Times New Roman"/>
              <a:cs typeface="Times New Roman"/>
              <a:sym typeface="Times New Roman"/>
            </a:endParaRPr>
          </a:p>
        </p:txBody>
      </p:sp>
      <p:sp>
        <p:nvSpPr>
          <p:cNvPr id="70" name="Google Shape;70;p2"/>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73" name="Google Shape;73;p2"/>
          <p:cNvSpPr txBox="1"/>
          <p:nvPr/>
        </p:nvSpPr>
        <p:spPr>
          <a:xfrm>
            <a:off x="300050" y="1950037"/>
            <a:ext cx="8266200" cy="4006426"/>
          </a:xfrm>
          <a:prstGeom prst="rect">
            <a:avLst/>
          </a:prstGeom>
          <a:noFill/>
          <a:ln>
            <a:noFill/>
          </a:ln>
        </p:spPr>
        <p:txBody>
          <a:bodyPr spcFirstLastPara="1" wrap="square" lIns="90000" tIns="457200" rIns="90000" bIns="46800" anchor="b" anchorCtr="0">
            <a:noAutofit/>
          </a:bodyPr>
          <a:lstStyle/>
          <a:p>
            <a:pPr marL="0" lvl="0" indent="0" algn="l" rtl="0">
              <a:lnSpc>
                <a:spcPct val="115000"/>
              </a:lnSpc>
              <a:spcBef>
                <a:spcPts val="1200"/>
              </a:spcBef>
              <a:spcAft>
                <a:spcPts val="1200"/>
              </a:spcAft>
              <a:buClr>
                <a:schemeClr val="dk1"/>
              </a:buClr>
              <a:buSzPts val="1100"/>
              <a:buFont typeface="Arial"/>
              <a:buNone/>
            </a:pPr>
            <a:endParaRPr sz="2000" dirty="0">
              <a:latin typeface="Times New Roman"/>
              <a:ea typeface="Times New Roman"/>
              <a:cs typeface="Times New Roman"/>
              <a:sym typeface="Times New Roman"/>
            </a:endParaRPr>
          </a:p>
        </p:txBody>
      </p:sp>
      <p:sp>
        <p:nvSpPr>
          <p:cNvPr id="75" name="Google Shape;75;p2"/>
          <p:cNvSpPr txBox="1"/>
          <p:nvPr/>
        </p:nvSpPr>
        <p:spPr>
          <a:xfrm>
            <a:off x="195943" y="1492899"/>
            <a:ext cx="8796990" cy="4493508"/>
          </a:xfrm>
          <a:prstGeom prst="rect">
            <a:avLst/>
          </a:prstGeom>
          <a:noFill/>
          <a:ln>
            <a:noFill/>
          </a:ln>
        </p:spPr>
        <p:txBody>
          <a:bodyPr spcFirstLastPara="1" wrap="square" lIns="91425" tIns="91425" rIns="91425" bIns="91425" anchor="t" anchorCtr="0">
            <a:spAutoFit/>
          </a:bodyPr>
          <a:lstStyle/>
          <a:p>
            <a:pPr lvl="0" algn="just">
              <a:lnSpc>
                <a:spcPct val="150000"/>
              </a:lnSpc>
              <a:spcBef>
                <a:spcPts val="1200"/>
              </a:spcBef>
            </a:pPr>
            <a:r>
              <a:rPr lang="en-US" sz="1800" dirty="0">
                <a:latin typeface="Times New Roman" panose="02020603050405020304" pitchFamily="18" charset="0"/>
                <a:cs typeface="Times New Roman" panose="02020603050405020304" pitchFamily="18" charset="0"/>
              </a:rPr>
              <a:t>In the modern banking sector, effective marketing strategies are essential to increase customer engagement and product subscriptions. This project focuses on analyzing a Portuguese bank’s direct marketing campaign data to predict whether a customer will subscribe to a term deposit. The dataset consists of customer demographic details, financial background, campaign interaction history, and macro-economic indicators. A complete data analysis is performed to understand customer behavior and identify influential factors. Multiple machine learning models are developed and evaluated to determine the most accurate predictive model. The outcomes of this project help the bank marketing team target potential customers efficiently, reduce operational costs, and improve overall campaign success.</a:t>
            </a:r>
            <a:endParaRPr sz="1800" dirty="0">
              <a:solidFill>
                <a:schemeClr val="dk1"/>
              </a:solidFill>
              <a:latin typeface="Times New Roman" panose="02020603050405020304" pitchFamily="18" charset="0"/>
              <a:cs typeface="Times New Roman" panose="02020603050405020304" pitchFamily="18" charset="0"/>
            </a:endParaRPr>
          </a:p>
        </p:txBody>
      </p:sp>
      <p:sp>
        <p:nvSpPr>
          <p:cNvPr id="7" name="Google Shape;82;p3">
            <a:extLst>
              <a:ext uri="{FF2B5EF4-FFF2-40B4-BE49-F238E27FC236}">
                <a16:creationId xmlns:a16="http://schemas.microsoft.com/office/drawing/2014/main" id="{8031E1F0-2326-D0C0-7A27-434F4A0711D6}"/>
              </a:ext>
            </a:extLst>
          </p:cNvPr>
          <p:cNvSpPr txBox="1"/>
          <p:nvPr/>
        </p:nvSpPr>
        <p:spPr>
          <a:xfrm>
            <a:off x="0" y="0"/>
            <a:ext cx="4795800" cy="116106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IN" sz="3600" b="1" i="0" u="none" dirty="0">
                <a:solidFill>
                  <a:srgbClr val="C00000"/>
                </a:solidFill>
                <a:latin typeface="Times New Roman" panose="02020603050405020304" pitchFamily="18" charset="0"/>
                <a:ea typeface="Calibri"/>
                <a:cs typeface="Times New Roman" panose="02020603050405020304" pitchFamily="18" charset="0"/>
                <a:sym typeface="Calibri"/>
              </a:rPr>
              <a:t>Abstract</a:t>
            </a:r>
            <a:endParaRPr sz="3600" b="1" i="0" u="none" dirty="0">
              <a:solidFill>
                <a:srgbClr val="C0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3"/>
          <p:cNvSpPr txBox="1"/>
          <p:nvPr/>
        </p:nvSpPr>
        <p:spPr>
          <a:xfrm>
            <a:off x="4795825" y="0"/>
            <a:ext cx="4348200" cy="11418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Abstract </a:t>
            </a:r>
            <a:r>
              <a:rPr lang="en-US" sz="1600" b="1" i="0" u="none" dirty="0">
                <a:solidFill>
                  <a:srgbClr val="04064C"/>
                </a:solidFill>
                <a:latin typeface="Times New Roman"/>
                <a:ea typeface="Times New Roman"/>
                <a:cs typeface="Times New Roman"/>
                <a:sym typeface="Times New Roman"/>
              </a:rPr>
              <a:t> </a:t>
            </a:r>
            <a:r>
              <a:rPr lang="en-US" sz="1600" b="0" i="0" u="none" dirty="0">
                <a:solidFill>
                  <a:srgbClr val="04064C"/>
                </a:solidFill>
                <a:latin typeface="Times New Roman"/>
                <a:ea typeface="Times New Roman"/>
                <a:cs typeface="Times New Roman"/>
                <a:sym typeface="Times New Roman"/>
              </a:rPr>
              <a:t>,</a:t>
            </a:r>
            <a:r>
              <a:rPr lang="en-US" sz="1600" b="0" i="0" u="none" dirty="0">
                <a:solidFill>
                  <a:srgbClr val="7F7F7F"/>
                </a:solidFill>
                <a:latin typeface="Times New Roman"/>
                <a:ea typeface="Times New Roman"/>
                <a:cs typeface="Times New Roman"/>
                <a:sym typeface="Times New Roman"/>
              </a:rPr>
              <a:t> </a:t>
            </a:r>
            <a:r>
              <a:rPr lang="en-US" sz="1600" b="1" i="0" u="none" dirty="0">
                <a:solidFill>
                  <a:schemeClr val="tx1"/>
                </a:solidFill>
                <a:latin typeface="Times New Roman"/>
                <a:ea typeface="Times New Roman"/>
                <a:cs typeface="Times New Roman"/>
                <a:sym typeface="Times New Roman"/>
              </a:rPr>
              <a:t>Introduction</a:t>
            </a:r>
            <a:r>
              <a:rPr lang="en-US" sz="1600" b="0" i="0" u="none" dirty="0">
                <a:solidFill>
                  <a:srgbClr val="7F7F7F"/>
                </a:solidFill>
                <a:latin typeface="Times New Roman"/>
                <a:ea typeface="Times New Roman"/>
                <a:cs typeface="Times New Roman"/>
                <a:sym typeface="Times New Roman"/>
              </a:rPr>
              <a:t>, Problem identification</a:t>
            </a:r>
            <a:endParaRPr lang="en-US" sz="1600" dirty="0"/>
          </a:p>
          <a:p>
            <a:pPr marL="0" marR="0" lvl="0" indent="0" algn="l" rtl="0">
              <a:lnSpc>
                <a:spcPct val="100000"/>
              </a:lnSpc>
              <a:spcBef>
                <a:spcPts val="0"/>
              </a:spcBef>
              <a:spcAft>
                <a:spcPts val="0"/>
              </a:spcAft>
              <a:buClr>
                <a:srgbClr val="7F7F7F"/>
              </a:buClr>
              <a:buSzPts val="1600"/>
              <a:buFont typeface="Times New Roman"/>
              <a:buNone/>
            </a:pPr>
            <a:r>
              <a:rPr lang="en-US" sz="1600" i="0" u="none" dirty="0">
                <a:solidFill>
                  <a:schemeClr val="tx2">
                    <a:lumMod val="50000"/>
                  </a:schemeClr>
                </a:solidFill>
                <a:latin typeface="Times New Roman"/>
                <a:ea typeface="Times New Roman"/>
                <a:cs typeface="Times New Roman"/>
                <a:sym typeface="Times New Roman"/>
              </a:rPr>
              <a:t>Objective</a:t>
            </a:r>
            <a:r>
              <a:rPr lang="en-US" sz="1600" b="0" i="0" u="none" dirty="0">
                <a:solidFill>
                  <a:srgbClr val="7F7F7F"/>
                </a:solidFill>
                <a:latin typeface="Times New Roman"/>
                <a:ea typeface="Times New Roman"/>
                <a:cs typeface="Times New Roman"/>
                <a:sym typeface="Times New Roman"/>
              </a:rPr>
              <a:t> ,</a:t>
            </a:r>
            <a:r>
              <a:rPr lang="en-US" sz="1600" i="0" u="none" dirty="0">
                <a:solidFill>
                  <a:schemeClr val="tx2">
                    <a:lumMod val="50000"/>
                  </a:schemeClr>
                </a:solidFill>
                <a:latin typeface="Times New Roman"/>
                <a:ea typeface="Times New Roman"/>
                <a:cs typeface="Times New Roman"/>
                <a:sym typeface="Times New Roman"/>
              </a:rPr>
              <a:t>System Architecture</a:t>
            </a:r>
            <a:endParaRPr lang="en-US" sz="1600" dirty="0">
              <a:solidFill>
                <a:schemeClr val="tx2">
                  <a:lumMod val="50000"/>
                </a:schemeClr>
              </a:solidFill>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Related Work ,Proposed Methodology</a:t>
            </a:r>
            <a:endParaRPr lang="en-US" sz="1600" dirty="0"/>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Results and Discussion ,Conclusions</a:t>
            </a:r>
            <a:endParaRPr lang="en-US" sz="1600" b="1" i="0" u="none" dirty="0">
              <a:solidFill>
                <a:srgbClr val="04064C"/>
              </a:solidFill>
              <a:latin typeface="Times New Roman"/>
              <a:ea typeface="Times New Roman"/>
              <a:cs typeface="Times New Roman"/>
              <a:sym typeface="Times New Roman"/>
            </a:endParaRPr>
          </a:p>
        </p:txBody>
      </p:sp>
      <p:sp>
        <p:nvSpPr>
          <p:cNvPr id="82" name="Google Shape;82;p3"/>
          <p:cNvSpPr txBox="1"/>
          <p:nvPr/>
        </p:nvSpPr>
        <p:spPr>
          <a:xfrm>
            <a:off x="0" y="0"/>
            <a:ext cx="4795800" cy="11418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83" name="Google Shape;83;p3"/>
          <p:cNvSpPr txBox="1"/>
          <p:nvPr/>
        </p:nvSpPr>
        <p:spPr>
          <a:xfrm>
            <a:off x="-105825" y="6548450"/>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85" name="Google Shape;85;p3"/>
          <p:cNvSpPr txBox="1"/>
          <p:nvPr/>
        </p:nvSpPr>
        <p:spPr>
          <a:xfrm>
            <a:off x="-12" y="274518"/>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dirty="0">
                <a:solidFill>
                  <a:srgbClr val="9D1E23"/>
                </a:solidFill>
                <a:latin typeface="Times New Roman"/>
                <a:ea typeface="Times New Roman"/>
                <a:cs typeface="Times New Roman"/>
                <a:sym typeface="Times New Roman"/>
              </a:rPr>
              <a:t>Introduction</a:t>
            </a:r>
            <a:endParaRPr dirty="0"/>
          </a:p>
        </p:txBody>
      </p:sp>
      <p:sp>
        <p:nvSpPr>
          <p:cNvPr id="86" name="Google Shape;86;p3"/>
          <p:cNvSpPr txBox="1"/>
          <p:nvPr/>
        </p:nvSpPr>
        <p:spPr>
          <a:xfrm>
            <a:off x="186824" y="1065844"/>
            <a:ext cx="8764135" cy="4511108"/>
          </a:xfrm>
          <a:prstGeom prst="rect">
            <a:avLst/>
          </a:prstGeom>
          <a:noFill/>
          <a:ln>
            <a:noFill/>
          </a:ln>
        </p:spPr>
        <p:txBody>
          <a:bodyPr spcFirstLastPara="1" wrap="square" lIns="90000" tIns="46800" rIns="90000" bIns="46800" anchor="t" anchorCtr="0">
            <a:spAutoFit/>
          </a:bodyPr>
          <a:lstStyle/>
          <a:p>
            <a:pPr marL="0" lvl="0" indent="0" algn="just" rtl="0">
              <a:lnSpc>
                <a:spcPct val="115000"/>
              </a:lnSpc>
              <a:spcBef>
                <a:spcPts val="500"/>
              </a:spcBef>
              <a:spcAft>
                <a:spcPts val="500"/>
              </a:spcAft>
              <a:buClr>
                <a:schemeClr val="dk1"/>
              </a:buClr>
              <a:buSzPts val="1100"/>
              <a:buFont typeface="Arial"/>
              <a:buNone/>
            </a:pPr>
            <a:endPar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endParaRPr>
          </a:p>
          <a:p>
            <a:pPr algn="just">
              <a:lnSpc>
                <a:spcPct val="150000"/>
              </a:lnSpc>
              <a:spcBef>
                <a:spcPts val="500"/>
              </a:spcBef>
              <a:spcAft>
                <a:spcPts val="500"/>
              </a:spcAft>
              <a:buClr>
                <a:schemeClr val="dk1"/>
              </a:buClr>
              <a:buSzPts val="1100"/>
            </a:pPr>
            <a:r>
              <a:rPr lang="en-US" sz="1800" dirty="0">
                <a:highlight>
                  <a:srgbClr val="FFFFFF"/>
                </a:highlight>
                <a:latin typeface="Times New Roman" panose="02020603050405020304" pitchFamily="18" charset="0"/>
                <a:cs typeface="Times New Roman" panose="02020603050405020304" pitchFamily="18" charset="0"/>
              </a:rPr>
              <a:t>Direct marketing campaigns are widely used by banks to promote financial products such as term deposits. These campaigns often involve contacting customers through phone calls, which can be expensive and time-consuming. Without proper customer targeting, banks may experience low success rates. With the availability of historical marketing data, machine learning provides an effective solution to predict customer responses. This project applies data analytics and machine learning techniques to analyze customer behavior and build a predictive model that assists the bank in identifying customers who are more likely to subscribe to term deposits.</a:t>
            </a:r>
          </a:p>
          <a:p>
            <a:pPr lvl="0" algn="just" rtl="0">
              <a:lnSpc>
                <a:spcPct val="115000"/>
              </a:lnSpc>
              <a:spcBef>
                <a:spcPts val="500"/>
              </a:spcBef>
              <a:spcAft>
                <a:spcPts val="500"/>
              </a:spcAft>
              <a:buClr>
                <a:schemeClr val="dk1"/>
              </a:buClr>
              <a:buSzPts val="1100"/>
            </a:pPr>
            <a:endParaRPr sz="20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5"/>
          <p:cNvSpPr txBox="1"/>
          <p:nvPr/>
        </p:nvSpPr>
        <p:spPr>
          <a:xfrm>
            <a:off x="4795825"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03" name="Google Shape;103;p5"/>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3600" b="1" i="0" u="none" dirty="0">
                <a:solidFill>
                  <a:srgbClr val="C00000"/>
                </a:solidFill>
                <a:latin typeface="Times New Roman"/>
                <a:ea typeface="Times New Roman"/>
                <a:cs typeface="Times New Roman"/>
                <a:sym typeface="Times New Roman"/>
              </a:rPr>
              <a:t>Problem Identification</a:t>
            </a:r>
            <a:endParaRPr sz="3600" b="1" i="0" u="none" dirty="0">
              <a:solidFill>
                <a:srgbClr val="C00000"/>
              </a:solidFill>
              <a:latin typeface="Calibri"/>
              <a:ea typeface="Calibri"/>
              <a:cs typeface="Calibri"/>
              <a:sym typeface="Calibri"/>
            </a:endParaRPr>
          </a:p>
        </p:txBody>
      </p:sp>
      <p:sp>
        <p:nvSpPr>
          <p:cNvPr id="104" name="Google Shape;104;p5"/>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05" name="Google Shape;105;p5"/>
          <p:cNvSpPr txBox="1"/>
          <p:nvPr/>
        </p:nvSpPr>
        <p:spPr>
          <a:xfrm>
            <a:off x="4795824" y="12"/>
            <a:ext cx="4492500" cy="1079399"/>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Abstract  , Introduction, </a:t>
            </a:r>
            <a:r>
              <a:rPr lang="en-US" sz="1600" b="1" i="0" u="none" dirty="0">
                <a:solidFill>
                  <a:schemeClr val="tx1"/>
                </a:solidFill>
                <a:latin typeface="Times New Roman"/>
                <a:ea typeface="Times New Roman"/>
                <a:cs typeface="Times New Roman"/>
                <a:sym typeface="Times New Roman"/>
              </a:rPr>
              <a:t>Problem Identification</a:t>
            </a:r>
            <a:endParaRPr b="1" dirty="0">
              <a:solidFill>
                <a:schemeClr val="tx1"/>
              </a:solidFill>
            </a:endParaRPr>
          </a:p>
          <a:p>
            <a:pPr marL="0" marR="0" lvl="0" indent="0" algn="l" rtl="0">
              <a:lnSpc>
                <a:spcPct val="100000"/>
              </a:lnSpc>
              <a:spcBef>
                <a:spcPts val="0"/>
              </a:spcBef>
              <a:spcAft>
                <a:spcPts val="0"/>
              </a:spcAft>
              <a:buClr>
                <a:srgbClr val="04064C"/>
              </a:buClr>
              <a:buSzPts val="1600"/>
              <a:buFont typeface="Times New Roman"/>
              <a:buNone/>
            </a:pPr>
            <a:r>
              <a:rPr lang="en-US" sz="1600" i="0" u="none" dirty="0">
                <a:solidFill>
                  <a:schemeClr val="tx2">
                    <a:lumMod val="50000"/>
                  </a:schemeClr>
                </a:solidFill>
                <a:latin typeface="Times New Roman"/>
                <a:ea typeface="Times New Roman"/>
                <a:cs typeface="Times New Roman"/>
                <a:sym typeface="Times New Roman"/>
              </a:rPr>
              <a:t>Objective </a:t>
            </a:r>
            <a:r>
              <a:rPr lang="en-US" sz="1600" b="0" i="0" u="none" dirty="0">
                <a:solidFill>
                  <a:srgbClr val="7F7F7F"/>
                </a:solidFill>
                <a:latin typeface="Times New Roman"/>
                <a:ea typeface="Times New Roman"/>
                <a:cs typeface="Times New Roman"/>
                <a:sym typeface="Times New Roman"/>
              </a:rPr>
              <a:t>,System Architecture</a:t>
            </a:r>
            <a:endParaRPr dirty="0"/>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Related Work ,Proposed Methodology</a:t>
            </a:r>
            <a:endParaRPr dirty="0"/>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Results and Discussion , Conclusions</a:t>
            </a:r>
          </a:p>
        </p:txBody>
      </p:sp>
      <p:sp>
        <p:nvSpPr>
          <p:cNvPr id="5" name="TextBox 4">
            <a:extLst>
              <a:ext uri="{FF2B5EF4-FFF2-40B4-BE49-F238E27FC236}">
                <a16:creationId xmlns:a16="http://schemas.microsoft.com/office/drawing/2014/main" id="{ED3DDED0-F7C2-F073-919B-0258FE3402DE}"/>
              </a:ext>
            </a:extLst>
          </p:cNvPr>
          <p:cNvSpPr txBox="1"/>
          <p:nvPr/>
        </p:nvSpPr>
        <p:spPr>
          <a:xfrm>
            <a:off x="214202" y="1502228"/>
            <a:ext cx="8715595" cy="3785652"/>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Banks face significant challenges in identifying potential customers for term deposit subscriptions. The marketing dataset contains a large number of attributes, including demographic, financial, and economic indicators, which makes manual analysis difficult. Additionally, some features such as call duration can lead to biased predictions if used incorrectly. The absence of accurate prediction systems results in wasted marketing efforts and increased costs. Hence, there is a need for a reliable machine learning model that can accurately predict customer subscription behavior before initiating marketing campaigns.</a:t>
            </a:r>
          </a:p>
          <a:p>
            <a:pPr algn="just">
              <a:lnSpc>
                <a:spcPct val="150000"/>
              </a:lnSpc>
            </a:pPr>
            <a:endParaRPr lang="en-US" sz="18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p:nvPr/>
        </p:nvSpPr>
        <p:spPr>
          <a:xfrm>
            <a:off x="4067175" y="0"/>
            <a:ext cx="50769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13" name="Google Shape;113;p6"/>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14" name="Google Shape;114;p6"/>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15" name="Google Shape;115;p6"/>
          <p:cNvSpPr txBox="1"/>
          <p:nvPr/>
        </p:nvSpPr>
        <p:spPr>
          <a:xfrm>
            <a:off x="4795837" y="-788"/>
            <a:ext cx="4283100" cy="1079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Abstract </a:t>
            </a:r>
            <a:r>
              <a:rPr lang="en-US" sz="1600" b="1" i="0" u="none" dirty="0">
                <a:solidFill>
                  <a:srgbClr val="04064C"/>
                </a:solidFill>
                <a:latin typeface="Times New Roman"/>
                <a:ea typeface="Times New Roman"/>
                <a:cs typeface="Times New Roman"/>
                <a:sym typeface="Times New Roman"/>
              </a:rPr>
              <a:t> </a:t>
            </a:r>
            <a:r>
              <a:rPr lang="en-US" sz="1600" b="0" i="0" u="none" dirty="0">
                <a:solidFill>
                  <a:srgbClr val="04064C"/>
                </a:solidFill>
                <a:latin typeface="Times New Roman"/>
                <a:ea typeface="Times New Roman"/>
                <a:cs typeface="Times New Roman"/>
                <a:sym typeface="Times New Roman"/>
              </a:rPr>
              <a:t>,</a:t>
            </a:r>
            <a:r>
              <a:rPr lang="en-US" sz="1600" b="0" i="0" u="none" dirty="0">
                <a:solidFill>
                  <a:srgbClr val="7F7F7F"/>
                </a:solidFill>
                <a:latin typeface="Times New Roman"/>
                <a:ea typeface="Times New Roman"/>
                <a:cs typeface="Times New Roman"/>
                <a:sym typeface="Times New Roman"/>
              </a:rPr>
              <a:t> Introduction, Problem identification</a:t>
            </a:r>
            <a:endParaRPr dirty="0"/>
          </a:p>
          <a:p>
            <a:pPr marL="0" marR="0" lvl="0" indent="0" algn="l" rtl="0">
              <a:lnSpc>
                <a:spcPct val="100000"/>
              </a:lnSpc>
              <a:spcBef>
                <a:spcPts val="0"/>
              </a:spcBef>
              <a:spcAft>
                <a:spcPts val="0"/>
              </a:spcAft>
              <a:buClr>
                <a:srgbClr val="7F7F7F"/>
              </a:buClr>
              <a:buSzPts val="1600"/>
              <a:buFont typeface="Times New Roman"/>
              <a:buNone/>
            </a:pPr>
            <a:r>
              <a:rPr lang="en-US" sz="1600" b="1" i="0" u="none" dirty="0">
                <a:solidFill>
                  <a:schemeClr val="tx1">
                    <a:lumMod val="95000"/>
                    <a:lumOff val="5000"/>
                  </a:schemeClr>
                </a:solidFill>
                <a:latin typeface="Times New Roman"/>
                <a:ea typeface="Times New Roman"/>
                <a:cs typeface="Times New Roman"/>
                <a:sym typeface="Times New Roman"/>
              </a:rPr>
              <a:t>Objective</a:t>
            </a:r>
            <a:r>
              <a:rPr lang="en-US" sz="1600" b="0" i="0" u="none" dirty="0">
                <a:solidFill>
                  <a:srgbClr val="7F7F7F"/>
                </a:solidFill>
                <a:latin typeface="Times New Roman"/>
                <a:ea typeface="Times New Roman"/>
                <a:cs typeface="Times New Roman"/>
                <a:sym typeface="Times New Roman"/>
              </a:rPr>
              <a:t> ,</a:t>
            </a:r>
            <a:r>
              <a:rPr lang="en-US" sz="1600" i="0" u="none" dirty="0">
                <a:solidFill>
                  <a:schemeClr val="tx2">
                    <a:lumMod val="50000"/>
                  </a:schemeClr>
                </a:solidFill>
                <a:latin typeface="Times New Roman"/>
                <a:ea typeface="Times New Roman"/>
                <a:cs typeface="Times New Roman"/>
                <a:sym typeface="Times New Roman"/>
              </a:rPr>
              <a:t>System Architecture</a:t>
            </a:r>
            <a:endParaRPr dirty="0">
              <a:solidFill>
                <a:schemeClr val="tx2">
                  <a:lumMod val="50000"/>
                </a:schemeClr>
              </a:solidFill>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Related Work ,Proposed Methodology</a:t>
            </a:r>
            <a:endParaRPr dirty="0"/>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Results and Discussion ,Conclusions</a:t>
            </a:r>
            <a:endParaRPr sz="1600" b="1" i="0" u="none" dirty="0">
              <a:solidFill>
                <a:srgbClr val="04064C"/>
              </a:solidFill>
              <a:latin typeface="Times New Roman"/>
              <a:ea typeface="Times New Roman"/>
              <a:cs typeface="Times New Roman"/>
              <a:sym typeface="Times New Roman"/>
            </a:endParaRPr>
          </a:p>
        </p:txBody>
      </p:sp>
      <p:sp>
        <p:nvSpPr>
          <p:cNvPr id="116" name="Google Shape;116;p6"/>
          <p:cNvSpPr txBox="1"/>
          <p:nvPr/>
        </p:nvSpPr>
        <p:spPr>
          <a:xfrm>
            <a:off x="65063" y="300043"/>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IN" sz="3600" b="1" dirty="0">
                <a:solidFill>
                  <a:srgbClr val="C00000"/>
                </a:solidFill>
                <a:latin typeface="Times New Roman" panose="02020603050405020304" pitchFamily="18" charset="0"/>
                <a:cs typeface="Times New Roman" panose="02020603050405020304" pitchFamily="18" charset="0"/>
              </a:rPr>
              <a:t>Objective</a:t>
            </a:r>
            <a:endParaRPr sz="36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97D9F0B-F5C1-D0A9-0F79-44C687F42777}"/>
              </a:ext>
            </a:extLst>
          </p:cNvPr>
          <p:cNvSpPr txBox="1"/>
          <p:nvPr/>
        </p:nvSpPr>
        <p:spPr>
          <a:xfrm>
            <a:off x="354563" y="1660849"/>
            <a:ext cx="8425643" cy="2954655"/>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primary objective of this project is to develop a machine learning model that predicts whether a customer will subscribe to a term deposit. The project also aims to perform in-depth exploratory data analysis to understand customer characteristics and behavior. Other objectives include preprocessing and encoding categorical data, evaluating multiple classification algorithms, selecting the best-performing model, and providing insights and recommendations to improve bank marketing strategies.</a:t>
            </a:r>
          </a:p>
          <a:p>
            <a:pPr algn="just"/>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2f2e34be905_1_19"/>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5" name="Google Shape;125;g2f2e34be905_1_19"/>
          <p:cNvSpPr txBox="1"/>
          <p:nvPr/>
        </p:nvSpPr>
        <p:spPr>
          <a:xfrm>
            <a:off x="4795837" y="-788"/>
            <a:ext cx="4283100" cy="1079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Abstract </a:t>
            </a:r>
            <a:r>
              <a:rPr lang="en-US" sz="1600" b="1" i="0" u="none">
                <a:solidFill>
                  <a:srgbClr val="04064C"/>
                </a:solidFill>
                <a:latin typeface="Times New Roman"/>
                <a:ea typeface="Times New Roman"/>
                <a:cs typeface="Times New Roman"/>
                <a:sym typeface="Times New Roman"/>
              </a:rPr>
              <a:t> </a:t>
            </a:r>
            <a:r>
              <a:rPr lang="en-US" sz="1600" b="0" i="0" u="none">
                <a:solidFill>
                  <a:srgbClr val="04064C"/>
                </a:solidFill>
                <a:latin typeface="Times New Roman"/>
                <a:ea typeface="Times New Roman"/>
                <a:cs typeface="Times New Roman"/>
                <a:sym typeface="Times New Roman"/>
              </a:rPr>
              <a:t>,</a:t>
            </a:r>
            <a:r>
              <a:rPr lang="en-US" sz="1600" b="0" i="0" u="none">
                <a:solidFill>
                  <a:srgbClr val="7F7F7F"/>
                </a:solidFill>
                <a:latin typeface="Times New Roman"/>
                <a:ea typeface="Times New Roman"/>
                <a:cs typeface="Times New Roman"/>
                <a:sym typeface="Times New Roman"/>
              </a:rPr>
              <a:t> Introduction, Problem identification</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Objective ,</a:t>
            </a:r>
            <a:r>
              <a:rPr lang="en-US" sz="1600" b="1" i="0" u="none">
                <a:solidFill>
                  <a:srgbClr val="04064C"/>
                </a:solidFill>
                <a:latin typeface="Times New Roman"/>
                <a:ea typeface="Times New Roman"/>
                <a:cs typeface="Times New Roman"/>
                <a:sym typeface="Times New Roman"/>
              </a:rPr>
              <a:t>System Architecture</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Related Work ,Proposed Methodology</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Results and Discussion ,Conclusions</a:t>
            </a:r>
            <a:endParaRPr sz="1600" b="1" i="0" u="none">
              <a:solidFill>
                <a:srgbClr val="04064C"/>
              </a:solidFill>
              <a:latin typeface="Times New Roman"/>
              <a:ea typeface="Times New Roman"/>
              <a:cs typeface="Times New Roman"/>
              <a:sym typeface="Times New Roman"/>
            </a:endParaRPr>
          </a:p>
        </p:txBody>
      </p:sp>
      <p:sp>
        <p:nvSpPr>
          <p:cNvPr id="126" name="Google Shape;126;g2f2e34be905_1_19"/>
          <p:cNvSpPr txBox="1"/>
          <p:nvPr/>
        </p:nvSpPr>
        <p:spPr>
          <a:xfrm>
            <a:off x="0" y="285750"/>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dirty="0">
                <a:solidFill>
                  <a:srgbClr val="9D1E23"/>
                </a:solidFill>
                <a:latin typeface="Times New Roman"/>
                <a:ea typeface="Times New Roman"/>
                <a:cs typeface="Times New Roman"/>
                <a:sym typeface="Times New Roman"/>
              </a:rPr>
              <a:t>System Architecture</a:t>
            </a:r>
            <a:endParaRPr dirty="0"/>
          </a:p>
        </p:txBody>
      </p:sp>
      <p:pic>
        <p:nvPicPr>
          <p:cNvPr id="3" name="Picture 2">
            <a:extLst>
              <a:ext uri="{FF2B5EF4-FFF2-40B4-BE49-F238E27FC236}">
                <a16:creationId xmlns:a16="http://schemas.microsoft.com/office/drawing/2014/main" id="{B57412EF-007E-F856-49AF-5FB112862C39}"/>
              </a:ext>
            </a:extLst>
          </p:cNvPr>
          <p:cNvPicPr>
            <a:picLocks noChangeAspect="1"/>
          </p:cNvPicPr>
          <p:nvPr/>
        </p:nvPicPr>
        <p:blipFill>
          <a:blip r:embed="rId3"/>
          <a:stretch>
            <a:fillRect/>
          </a:stretch>
        </p:blipFill>
        <p:spPr>
          <a:xfrm>
            <a:off x="989044" y="1655328"/>
            <a:ext cx="7492483" cy="43654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33" name="Google Shape;133;p7"/>
          <p:cNvSpPr txBox="1"/>
          <p:nvPr/>
        </p:nvSpPr>
        <p:spPr>
          <a:xfrm>
            <a:off x="47958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4" name="Google Shape;134;p7"/>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5" name="Google Shape;135;p7"/>
          <p:cNvSpPr txBox="1"/>
          <p:nvPr/>
        </p:nvSpPr>
        <p:spPr>
          <a:xfrm>
            <a:off x="4795837" y="12"/>
            <a:ext cx="3357600" cy="1079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04064C"/>
              </a:buClr>
              <a:buSzPts val="1600"/>
              <a:buFont typeface="Times New Roman"/>
              <a:buNone/>
            </a:pPr>
            <a:r>
              <a:rPr lang="en-US" sz="1600" b="1" i="0" u="none" dirty="0">
                <a:solidFill>
                  <a:schemeClr val="tx1"/>
                </a:solidFill>
                <a:latin typeface="Times New Roman"/>
                <a:ea typeface="Times New Roman"/>
                <a:cs typeface="Times New Roman"/>
                <a:sym typeface="Times New Roman"/>
              </a:rPr>
              <a:t>Related Work</a:t>
            </a:r>
            <a:endParaRPr b="1" dirty="0">
              <a:solidFill>
                <a:schemeClr val="tx1"/>
              </a:solidFill>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Proposed Methodology</a:t>
            </a:r>
            <a:endParaRPr dirty="0"/>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Results and Discussion</a:t>
            </a:r>
            <a:endParaRPr dirty="0"/>
          </a:p>
          <a:p>
            <a:pPr marL="0" marR="0" lvl="0" indent="0" algn="l" rtl="0">
              <a:lnSpc>
                <a:spcPct val="100000"/>
              </a:lnSpc>
              <a:spcBef>
                <a:spcPts val="0"/>
              </a:spcBef>
              <a:spcAft>
                <a:spcPts val="0"/>
              </a:spcAft>
              <a:buClr>
                <a:srgbClr val="7F7F7F"/>
              </a:buClr>
              <a:buSzPts val="1600"/>
              <a:buFont typeface="Times New Roman"/>
              <a:buNone/>
            </a:pPr>
            <a:r>
              <a:rPr lang="en-US" sz="1600" b="0" i="0" u="none" dirty="0">
                <a:solidFill>
                  <a:srgbClr val="7F7F7F"/>
                </a:solidFill>
                <a:latin typeface="Times New Roman"/>
                <a:ea typeface="Times New Roman"/>
                <a:cs typeface="Times New Roman"/>
                <a:sym typeface="Times New Roman"/>
              </a:rPr>
              <a:t>Conclusions</a:t>
            </a:r>
            <a:endParaRPr dirty="0"/>
          </a:p>
        </p:txBody>
      </p:sp>
      <p:sp>
        <p:nvSpPr>
          <p:cNvPr id="136" name="Google Shape;136;p7"/>
          <p:cNvSpPr txBox="1"/>
          <p:nvPr/>
        </p:nvSpPr>
        <p:spPr>
          <a:xfrm>
            <a:off x="0" y="30822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IN" sz="3600" b="1" dirty="0">
                <a:solidFill>
                  <a:srgbClr val="C00000"/>
                </a:solidFill>
                <a:latin typeface="Times New Roman" panose="02020603050405020304" pitchFamily="18" charset="0"/>
                <a:cs typeface="Times New Roman" panose="02020603050405020304" pitchFamily="18" charset="0"/>
              </a:rPr>
              <a:t>Related work</a:t>
            </a:r>
            <a:endParaRPr sz="36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10E302-537B-C0EB-7563-B48758695593}"/>
              </a:ext>
            </a:extLst>
          </p:cNvPr>
          <p:cNvSpPr txBox="1"/>
          <p:nvPr/>
        </p:nvSpPr>
        <p:spPr>
          <a:xfrm>
            <a:off x="298580" y="1492898"/>
            <a:ext cx="8565502" cy="3413216"/>
          </a:xfrm>
          <a:prstGeom prst="rect">
            <a:avLst/>
          </a:prstGeom>
          <a:noFill/>
        </p:spPr>
        <p:txBody>
          <a:bodyPr wrap="square">
            <a:spAutoFit/>
          </a:bodyPr>
          <a:lstStyle/>
          <a:p>
            <a:pPr algn="just">
              <a:lnSpc>
                <a:spcPct val="150000"/>
              </a:lnSpc>
            </a:pPr>
            <a:r>
              <a:rPr lang="en-US" sz="1800" dirty="0">
                <a:highlight>
                  <a:srgbClr val="F7F7F7"/>
                </a:highlight>
                <a:latin typeface="Times New Roman" panose="02020603050405020304" pitchFamily="18" charset="0"/>
                <a:cs typeface="Times New Roman" panose="02020603050405020304" pitchFamily="18" charset="0"/>
              </a:rPr>
              <a:t>Previous research in bank marketing analytics has used statistical techniques and machine learning models such as logistic regression, decision trees, random forests, and boosting algorithms. Studies indicate that customer age, previous campaign outcomes, and economic indicators significantly influence subscription decisions. Many researchers highlight the importance of excluding call-duration features to ensure realistic predictions. This project follows similar methodologies while performing comprehensive model comparison to achieve better predictive performance.</a:t>
            </a:r>
          </a:p>
          <a:p>
            <a:pPr>
              <a:lnSpc>
                <a:spcPct val="150000"/>
              </a:lnSpc>
            </a:pPr>
            <a:endParaRPr lang="en-US" sz="1800" dirty="0">
              <a:highlight>
                <a:srgbClr val="F7F7F7"/>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53" name="Google Shape;153;p8"/>
          <p:cNvSpPr txBox="1"/>
          <p:nvPr/>
        </p:nvSpPr>
        <p:spPr>
          <a:xfrm>
            <a:off x="47958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54" name="Google Shape;154;p8"/>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55" name="Google Shape;155;p8"/>
          <p:cNvSpPr txBox="1"/>
          <p:nvPr/>
        </p:nvSpPr>
        <p:spPr>
          <a:xfrm>
            <a:off x="4795837" y="12"/>
            <a:ext cx="3357600" cy="1079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Related Work</a:t>
            </a:r>
            <a:endParaRPr/>
          </a:p>
          <a:p>
            <a:pPr marL="0" marR="0" lvl="0" indent="0" algn="l" rtl="0">
              <a:lnSpc>
                <a:spcPct val="100000"/>
              </a:lnSpc>
              <a:spcBef>
                <a:spcPts val="0"/>
              </a:spcBef>
              <a:spcAft>
                <a:spcPts val="0"/>
              </a:spcAft>
              <a:buClr>
                <a:schemeClr val="dk1"/>
              </a:buClr>
              <a:buSzPts val="1600"/>
              <a:buFont typeface="Times New Roman"/>
              <a:buNone/>
            </a:pPr>
            <a:r>
              <a:rPr lang="en-US" sz="1600" b="1" i="0" u="none">
                <a:solidFill>
                  <a:schemeClr val="dk1"/>
                </a:solidFill>
                <a:latin typeface="Times New Roman"/>
                <a:ea typeface="Times New Roman"/>
                <a:cs typeface="Times New Roman"/>
                <a:sym typeface="Times New Roman"/>
              </a:rPr>
              <a:t>Proposed Methodology</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Results and Discussion</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Conclusions</a:t>
            </a:r>
            <a:endParaRPr/>
          </a:p>
        </p:txBody>
      </p:sp>
      <p:sp>
        <p:nvSpPr>
          <p:cNvPr id="156" name="Google Shape;156;p8"/>
          <p:cNvSpPr txBox="1"/>
          <p:nvPr/>
        </p:nvSpPr>
        <p:spPr>
          <a:xfrm>
            <a:off x="0" y="273000"/>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a:solidFill>
                  <a:srgbClr val="9D1E23"/>
                </a:solidFill>
                <a:latin typeface="Times New Roman"/>
                <a:ea typeface="Times New Roman"/>
                <a:cs typeface="Times New Roman"/>
                <a:sym typeface="Times New Roman"/>
              </a:rPr>
              <a:t>Proposed Methodology</a:t>
            </a:r>
            <a:endParaRPr/>
          </a:p>
        </p:txBody>
      </p:sp>
      <p:sp>
        <p:nvSpPr>
          <p:cNvPr id="3" name="TextBox 2">
            <a:extLst>
              <a:ext uri="{FF2B5EF4-FFF2-40B4-BE49-F238E27FC236}">
                <a16:creationId xmlns:a16="http://schemas.microsoft.com/office/drawing/2014/main" id="{214884A0-FE42-18B1-354F-CA4569AFEDC7}"/>
              </a:ext>
            </a:extLst>
          </p:cNvPr>
          <p:cNvSpPr txBox="1"/>
          <p:nvPr/>
        </p:nvSpPr>
        <p:spPr>
          <a:xfrm>
            <a:off x="360680" y="1311136"/>
            <a:ext cx="8422640" cy="523220"/>
          </a:xfrm>
          <a:prstGeom prst="rect">
            <a:avLst/>
          </a:prstGeom>
          <a:noFill/>
        </p:spPr>
        <p:txBody>
          <a:bodyPr wrap="square">
            <a:spAutoFit/>
          </a:bodyPr>
          <a:lstStyle/>
          <a:p>
            <a:br>
              <a:rPr lang="en-US"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47C2CF-76A1-830E-1E7A-49BC8AA68BCA}"/>
              </a:ext>
            </a:extLst>
          </p:cNvPr>
          <p:cNvSpPr txBox="1"/>
          <p:nvPr/>
        </p:nvSpPr>
        <p:spPr>
          <a:xfrm>
            <a:off x="559837" y="1567543"/>
            <a:ext cx="8102382" cy="4197559"/>
          </a:xfrm>
          <a:prstGeom prst="rect">
            <a:avLst/>
          </a:prstGeom>
          <a:noFill/>
        </p:spPr>
        <p:txBody>
          <a:bodyPr wrap="square">
            <a:spAutoFit/>
          </a:bodyPr>
          <a:lstStyle/>
          <a:p>
            <a:pPr algn="just">
              <a:lnSpc>
                <a:spcPct val="150000"/>
              </a:lnSpc>
            </a:pPr>
            <a:r>
              <a:rPr lang="en-US" sz="1800" dirty="0"/>
              <a:t>The proposed methodology starts with importing the bank marketing dataset and performing initial data inspection. Data preprocessing involves handling categorical variables using encoding techniques and scaling numerical attributes if required. Exploratory data analysis is conducted to visualize feature distributions and relationships with the target variable. Irrelevant or biased features are removed. The dataset is split into training and testing sets. Multiple machine learning classification models are trained and evaluated using metrics such as accuracy, precision, recall, and F1-score. The best-performing model is selected for final deployment.</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1"/>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173" name="Google Shape;173;p11"/>
          <p:cNvSpPr txBox="1"/>
          <p:nvPr/>
        </p:nvSpPr>
        <p:spPr>
          <a:xfrm>
            <a:off x="48006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74" name="Google Shape;174;p11"/>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75" name="Google Shape;175;p11"/>
          <p:cNvSpPr txBox="1"/>
          <p:nvPr/>
        </p:nvSpPr>
        <p:spPr>
          <a:xfrm>
            <a:off x="4795837" y="12"/>
            <a:ext cx="3357600" cy="1079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Related Work</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Proposed Methodology</a:t>
            </a:r>
            <a:endParaRPr/>
          </a:p>
          <a:p>
            <a:pPr marL="0" marR="0" lvl="0" indent="0" algn="l" rtl="0">
              <a:lnSpc>
                <a:spcPct val="100000"/>
              </a:lnSpc>
              <a:spcBef>
                <a:spcPts val="0"/>
              </a:spcBef>
              <a:spcAft>
                <a:spcPts val="0"/>
              </a:spcAft>
              <a:buClr>
                <a:schemeClr val="dk1"/>
              </a:buClr>
              <a:buSzPts val="1600"/>
              <a:buFont typeface="Times New Roman"/>
              <a:buNone/>
            </a:pPr>
            <a:r>
              <a:rPr lang="en-US" sz="1600" b="1" i="0" u="none">
                <a:solidFill>
                  <a:schemeClr val="dk1"/>
                </a:solidFill>
                <a:latin typeface="Times New Roman"/>
                <a:ea typeface="Times New Roman"/>
                <a:cs typeface="Times New Roman"/>
                <a:sym typeface="Times New Roman"/>
              </a:rPr>
              <a:t>Results and Discussion</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Conclusions</a:t>
            </a:r>
            <a:endParaRPr/>
          </a:p>
        </p:txBody>
      </p:sp>
      <p:sp>
        <p:nvSpPr>
          <p:cNvPr id="176" name="Google Shape;176;p11"/>
          <p:cNvSpPr txBox="1"/>
          <p:nvPr/>
        </p:nvSpPr>
        <p:spPr>
          <a:xfrm>
            <a:off x="0" y="297525"/>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a:solidFill>
                  <a:srgbClr val="9D1E23"/>
                </a:solidFill>
                <a:latin typeface="Times New Roman"/>
                <a:ea typeface="Times New Roman"/>
                <a:cs typeface="Times New Roman"/>
                <a:sym typeface="Times New Roman"/>
              </a:rPr>
              <a:t>Results and Discussion </a:t>
            </a:r>
            <a:endParaRPr/>
          </a:p>
        </p:txBody>
      </p:sp>
      <p:sp>
        <p:nvSpPr>
          <p:cNvPr id="5" name="TextBox 4">
            <a:extLst>
              <a:ext uri="{FF2B5EF4-FFF2-40B4-BE49-F238E27FC236}">
                <a16:creationId xmlns:a16="http://schemas.microsoft.com/office/drawing/2014/main" id="{4B08C3B1-F921-FB94-AA74-DBB503BC3A42}"/>
              </a:ext>
            </a:extLst>
          </p:cNvPr>
          <p:cNvSpPr txBox="1"/>
          <p:nvPr/>
        </p:nvSpPr>
        <p:spPr>
          <a:xfrm>
            <a:off x="101600" y="1797091"/>
            <a:ext cx="8940800" cy="2951064"/>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results of the project indicate that machine learning models can effectively predict customer subscription behavior. Exploratory analysis shows that factors such as previous campaign success, contact type, and economic indicators have a strong impact on customer decisions. Model comparison reveals that advanced classification models outperform basic algorithms. The selected model demonstrates improved prediction accuracy and consistency, making it suitable for real-world marketing applications. These results enable the bank to optimize marketing resources and focus on high-potential customers.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3"/>
          <p:cNvSpPr txBox="1"/>
          <p:nvPr/>
        </p:nvSpPr>
        <p:spPr>
          <a:xfrm>
            <a:off x="0" y="6557962"/>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194" name="Google Shape;194;p13"/>
          <p:cNvSpPr txBox="1"/>
          <p:nvPr/>
        </p:nvSpPr>
        <p:spPr>
          <a:xfrm>
            <a:off x="48006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95" name="Google Shape;195;p13"/>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96" name="Google Shape;196;p13"/>
          <p:cNvSpPr txBox="1"/>
          <p:nvPr/>
        </p:nvSpPr>
        <p:spPr>
          <a:xfrm>
            <a:off x="0" y="363625"/>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a:solidFill>
                  <a:srgbClr val="9D1E23"/>
                </a:solidFill>
                <a:latin typeface="Times New Roman"/>
                <a:ea typeface="Times New Roman"/>
                <a:cs typeface="Times New Roman"/>
                <a:sym typeface="Times New Roman"/>
              </a:rPr>
              <a:t>Conclusions</a:t>
            </a:r>
            <a:endParaRPr/>
          </a:p>
        </p:txBody>
      </p:sp>
      <p:sp>
        <p:nvSpPr>
          <p:cNvPr id="197" name="Google Shape;197;p13"/>
          <p:cNvSpPr txBox="1"/>
          <p:nvPr/>
        </p:nvSpPr>
        <p:spPr>
          <a:xfrm>
            <a:off x="4795837" y="12"/>
            <a:ext cx="3357600" cy="10797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Related Work</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Proposed Methodology</a:t>
            </a:r>
            <a:endParaRPr/>
          </a:p>
          <a:p>
            <a:pPr marL="0" marR="0" lvl="0" indent="0" algn="l" rtl="0">
              <a:lnSpc>
                <a:spcPct val="100000"/>
              </a:lnSpc>
              <a:spcBef>
                <a:spcPts val="0"/>
              </a:spcBef>
              <a:spcAft>
                <a:spcPts val="0"/>
              </a:spcAft>
              <a:buClr>
                <a:srgbClr val="7F7F7F"/>
              </a:buClr>
              <a:buSzPts val="1600"/>
              <a:buFont typeface="Times New Roman"/>
              <a:buNone/>
            </a:pPr>
            <a:r>
              <a:rPr lang="en-US" sz="1600" b="0" i="0" u="none">
                <a:solidFill>
                  <a:srgbClr val="7F7F7F"/>
                </a:solidFill>
                <a:latin typeface="Times New Roman"/>
                <a:ea typeface="Times New Roman"/>
                <a:cs typeface="Times New Roman"/>
                <a:sym typeface="Times New Roman"/>
              </a:rPr>
              <a:t>Results and Discussion</a:t>
            </a:r>
            <a:endParaRPr/>
          </a:p>
          <a:p>
            <a:pPr marL="0" marR="0" lvl="0" indent="0" algn="l" rtl="0">
              <a:lnSpc>
                <a:spcPct val="100000"/>
              </a:lnSpc>
              <a:spcBef>
                <a:spcPts val="0"/>
              </a:spcBef>
              <a:spcAft>
                <a:spcPts val="0"/>
              </a:spcAft>
              <a:buClr>
                <a:schemeClr val="dk1"/>
              </a:buClr>
              <a:buSzPts val="1600"/>
              <a:buFont typeface="Times New Roman"/>
              <a:buNone/>
            </a:pPr>
            <a:r>
              <a:rPr lang="en-US" sz="1600" b="1" i="0" u="none">
                <a:solidFill>
                  <a:schemeClr val="dk1"/>
                </a:solidFill>
                <a:latin typeface="Times New Roman"/>
                <a:ea typeface="Times New Roman"/>
                <a:cs typeface="Times New Roman"/>
                <a:sym typeface="Times New Roman"/>
              </a:rPr>
              <a:t>Conclusions</a:t>
            </a:r>
            <a:endParaRPr/>
          </a:p>
        </p:txBody>
      </p:sp>
      <p:sp>
        <p:nvSpPr>
          <p:cNvPr id="3" name="TextBox 2">
            <a:extLst>
              <a:ext uri="{FF2B5EF4-FFF2-40B4-BE49-F238E27FC236}">
                <a16:creationId xmlns:a16="http://schemas.microsoft.com/office/drawing/2014/main" id="{DE8C3440-FF52-408C-D616-82C8CB2DB6D4}"/>
              </a:ext>
            </a:extLst>
          </p:cNvPr>
          <p:cNvSpPr txBox="1"/>
          <p:nvPr/>
        </p:nvSpPr>
        <p:spPr>
          <a:xfrm>
            <a:off x="421676" y="1679510"/>
            <a:ext cx="8265123" cy="3366243"/>
          </a:xfrm>
          <a:prstGeom prst="rect">
            <a:avLst/>
          </a:prstGeom>
          <a:noFill/>
        </p:spPr>
        <p:txBody>
          <a:bodyPr wrap="square">
            <a:spAutoFit/>
          </a:bodyPr>
          <a:lstStyle/>
          <a:p>
            <a:pPr algn="just">
              <a:lnSpc>
                <a:spcPct val="150000"/>
              </a:lnSpc>
            </a:pPr>
            <a:r>
              <a:rPr lang="en-US" sz="1800" dirty="0"/>
              <a:t>This project successfully demonstrates the application of machine learning techniques in bank marketing prediction. By analyzing historical campaign data and evaluating multiple models, an effective predictive system was developed. The findings confirm that data-driven marketing strategies can significantly improve customer targeting and campaign success. The proposed solution helps banks reduce costs, improve efficiency, and increase term deposit subscriptions. Future enhancements may include real-time prediction systems and integration with banking CRM platforms.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553</TotalTime>
  <Words>1053</Words>
  <Application>Microsoft Office PowerPoint</Application>
  <PresentationFormat>On-screen Show (4:3)</PresentationFormat>
  <Paragraphs>84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Sambit</dc:creator>
  <cp:lastModifiedBy>Pujith Kumar</cp:lastModifiedBy>
  <cp:revision>8</cp:revision>
  <dcterms:created xsi:type="dcterms:W3CDTF">2013-05-08T19:42:37Z</dcterms:created>
  <dcterms:modified xsi:type="dcterms:W3CDTF">2025-12-30T05:15:45Z</dcterms:modified>
</cp:coreProperties>
</file>